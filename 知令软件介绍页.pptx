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86" y="11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63490-84ED-4262-B621-F3B55265AD8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F4E9E2-D2B9-47AA-8045-774DE61355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87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nss_z1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25880"/>
          </a:xfrm>
          <a:prstGeom prst="rect">
            <a:avLst/>
          </a:prstGeom>
        </p:spPr>
      </p:pic>
      <p:pic>
        <p:nvPicPr>
          <p:cNvPr id="3" name="Picture 2" descr="tmpz1q77m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508760"/>
            <a:ext cx="3913632" cy="4480560"/>
          </a:xfrm>
          <a:prstGeom prst="rect">
            <a:avLst/>
          </a:prstGeom>
        </p:spPr>
      </p:pic>
      <p:pic>
        <p:nvPicPr>
          <p:cNvPr id="4" name="Picture 3" descr="tmpidgs75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19456"/>
            <a:ext cx="868680" cy="868680"/>
          </a:xfrm>
          <a:prstGeom prst="rect">
            <a:avLst/>
          </a:prstGeom>
        </p:spPr>
      </p:pic>
      <p:pic>
        <p:nvPicPr>
          <p:cNvPr id="5" name="Picture 4" descr="tmptyjr9l8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1703" y="4689082"/>
            <a:ext cx="1240277" cy="12402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1481328" y="320040"/>
            <a:ext cx="2396810" cy="6386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14213D"/>
                </a:solidFill>
                <a:latin typeface="微软雅黑"/>
              </a:rPr>
              <a:t>知令</a:t>
            </a:r>
            <a:r>
              <a:rPr sz="2400" b="1" dirty="0">
                <a:solidFill>
                  <a:srgbClr val="14213D"/>
                </a:solidFill>
                <a:latin typeface="微软雅黑"/>
              </a:rPr>
              <a:t> ZHILING</a:t>
            </a:r>
          </a:p>
          <a:p>
            <a:r>
              <a:rPr lang="zh-CN" altLang="en-US" sz="1150" dirty="0">
                <a:solidFill>
                  <a:srgbClr val="5A6B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自然语言驱动 </a:t>
            </a:r>
            <a:r>
              <a:rPr lang="zh-CN" altLang="en-US" sz="1150" dirty="0">
                <a:solidFill>
                  <a:srgbClr val="5A6B8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 </a:t>
            </a:r>
            <a:r>
              <a:rPr sz="1150" dirty="0" err="1">
                <a:solidFill>
                  <a:srgbClr val="5A6B85"/>
                </a:solidFill>
                <a:latin typeface="微软雅黑"/>
              </a:rPr>
              <a:t>全场景智能工作台</a:t>
            </a:r>
            <a:endParaRPr sz="1150" dirty="0">
              <a:solidFill>
                <a:srgbClr val="5A6B8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1456" y="345460"/>
            <a:ext cx="36375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 dirty="0">
                <a:solidFill>
                  <a:srgbClr val="3780FF"/>
                </a:solidFill>
                <a:latin typeface="微软雅黑"/>
              </a:rPr>
              <a:t>https://zhiling.plus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7086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 err="1">
                <a:solidFill>
                  <a:srgbClr val="14213D"/>
                </a:solidFill>
                <a:latin typeface="微软雅黑"/>
              </a:rPr>
              <a:t>开箱即用的全场景智能工作台</a:t>
            </a:r>
            <a:endParaRPr sz="2500" b="1" dirty="0">
              <a:solidFill>
                <a:srgbClr val="14213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157984"/>
            <a:ext cx="7086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 err="1">
                <a:solidFill>
                  <a:srgbClr val="5A6B85"/>
                </a:solidFill>
                <a:latin typeface="微软雅黑"/>
              </a:rPr>
              <a:t>日常办公</a:t>
            </a:r>
            <a:r>
              <a:rPr sz="1250" dirty="0">
                <a:solidFill>
                  <a:srgbClr val="5A6B85"/>
                </a:solidFill>
                <a:latin typeface="微软雅黑"/>
              </a:rPr>
              <a:t> · </a:t>
            </a:r>
            <a:r>
              <a:rPr sz="1250" dirty="0" err="1">
                <a:solidFill>
                  <a:srgbClr val="5A6B85"/>
                </a:solidFill>
                <a:latin typeface="微软雅黑"/>
              </a:rPr>
              <a:t>工程</a:t>
            </a:r>
            <a:r>
              <a:rPr sz="1250" dirty="0">
                <a:solidFill>
                  <a:srgbClr val="5A6B85"/>
                </a:solidFill>
                <a:latin typeface="微软雅黑"/>
              </a:rPr>
              <a:t> · </a:t>
            </a:r>
            <a:r>
              <a:rPr sz="1250" dirty="0" err="1">
                <a:solidFill>
                  <a:srgbClr val="5A6B85"/>
                </a:solidFill>
                <a:latin typeface="微软雅黑"/>
              </a:rPr>
              <a:t>科研全场景智能助手</a:t>
            </a:r>
            <a:r>
              <a:rPr sz="1250" dirty="0">
                <a:solidFill>
                  <a:srgbClr val="5A6B85"/>
                </a:solidFill>
                <a:latin typeface="微软雅黑"/>
              </a:rPr>
              <a:t> ｜ </a:t>
            </a:r>
            <a:r>
              <a:rPr sz="1250" dirty="0" err="1">
                <a:solidFill>
                  <a:srgbClr val="5A6B85"/>
                </a:solidFill>
                <a:latin typeface="微软雅黑"/>
              </a:rPr>
              <a:t>桌面端与移动端协同办公，手机上也能处理复杂工作</a:t>
            </a:r>
            <a:endParaRPr sz="1250" dirty="0">
              <a:solidFill>
                <a:srgbClr val="5A6B85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3576620" cy="7309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4213D"/>
                </a:solidFill>
                <a:latin typeface="微软雅黑"/>
              </a:rPr>
              <a:t>🔒 </a:t>
            </a:r>
            <a:r>
              <a:rPr sz="1500" b="1" dirty="0" err="1">
                <a:solidFill>
                  <a:srgbClr val="14213D"/>
                </a:solidFill>
                <a:latin typeface="微软雅黑"/>
              </a:rPr>
              <a:t>全链路数据安全保障</a:t>
            </a:r>
            <a:endParaRPr lang="en-US" sz="1500" b="1" dirty="0">
              <a:solidFill>
                <a:srgbClr val="14213D"/>
              </a:solidFill>
              <a:latin typeface="微软雅黑"/>
            </a:endParaRPr>
          </a:p>
          <a:p>
            <a:endParaRPr sz="1500" b="1" dirty="0">
              <a:solidFill>
                <a:srgbClr val="14213D"/>
              </a:solidFill>
              <a:latin typeface="微软雅黑"/>
            </a:endParaRPr>
          </a:p>
          <a:p>
            <a:r>
              <a:rPr sz="1150" b="0" dirty="0" err="1">
                <a:solidFill>
                  <a:srgbClr val="5A6B85"/>
                </a:solidFill>
                <a:latin typeface="微软雅黑"/>
              </a:rPr>
              <a:t>可选高数据安全等级上游大模型，安心处理私密数据</a:t>
            </a:r>
            <a:endParaRPr sz="1150" b="0" dirty="0">
              <a:solidFill>
                <a:srgbClr val="5A6B85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3529584"/>
            <a:ext cx="3943708" cy="7309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4213D"/>
                </a:solidFill>
                <a:latin typeface="微软雅黑"/>
              </a:rPr>
              <a:t>🎓 </a:t>
            </a:r>
            <a:r>
              <a:rPr sz="1500" b="1" dirty="0" err="1">
                <a:solidFill>
                  <a:srgbClr val="14213D"/>
                </a:solidFill>
                <a:latin typeface="微软雅黑"/>
              </a:rPr>
              <a:t>学术科研能力</a:t>
            </a:r>
            <a:endParaRPr lang="en-US" sz="1500" b="1" dirty="0">
              <a:solidFill>
                <a:srgbClr val="14213D"/>
              </a:solidFill>
              <a:latin typeface="微软雅黑"/>
            </a:endParaRPr>
          </a:p>
          <a:p>
            <a:endParaRPr sz="1500" b="1" dirty="0">
              <a:solidFill>
                <a:srgbClr val="14213D"/>
              </a:solidFill>
              <a:latin typeface="微软雅黑"/>
            </a:endParaRPr>
          </a:p>
          <a:p>
            <a:r>
              <a:rPr sz="1150" b="0" dirty="0" err="1">
                <a:solidFill>
                  <a:srgbClr val="5A6B85"/>
                </a:solidFill>
                <a:latin typeface="微软雅黑"/>
              </a:rPr>
              <a:t>支持学术搜索、高质量图片和视频生成、高质量</a:t>
            </a:r>
            <a:r>
              <a:rPr sz="1150" b="0" dirty="0">
                <a:solidFill>
                  <a:srgbClr val="5A6B85"/>
                </a:solidFill>
                <a:latin typeface="微软雅黑"/>
              </a:rPr>
              <a:t> PDF </a:t>
            </a:r>
            <a:r>
              <a:rPr sz="1150" b="0" dirty="0" err="1">
                <a:solidFill>
                  <a:srgbClr val="5A6B85"/>
                </a:solidFill>
                <a:latin typeface="微软雅黑"/>
              </a:rPr>
              <a:t>识别</a:t>
            </a:r>
            <a:endParaRPr sz="1150" b="0" dirty="0">
              <a:solidFill>
                <a:srgbClr val="5A6B85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4407408"/>
            <a:ext cx="5820824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4213D"/>
                </a:solidFill>
                <a:latin typeface="微软雅黑"/>
              </a:rPr>
              <a:t>🧠 </a:t>
            </a:r>
            <a:r>
              <a:rPr sz="1500" b="1" dirty="0" err="1">
                <a:solidFill>
                  <a:srgbClr val="14213D"/>
                </a:solidFill>
                <a:latin typeface="微软雅黑"/>
              </a:rPr>
              <a:t>顶级大模型深度适配</a:t>
            </a:r>
            <a:endParaRPr lang="en-US" sz="1500" b="1" dirty="0">
              <a:solidFill>
                <a:srgbClr val="14213D"/>
              </a:solidFill>
              <a:latin typeface="微软雅黑"/>
            </a:endParaRPr>
          </a:p>
          <a:p>
            <a:endParaRPr sz="1500" b="1" dirty="0">
              <a:solidFill>
                <a:srgbClr val="14213D"/>
              </a:solidFill>
              <a:latin typeface="微软雅黑"/>
            </a:endParaRPr>
          </a:p>
          <a:p>
            <a:r>
              <a:rPr sz="1150" b="0" dirty="0">
                <a:solidFill>
                  <a:srgbClr val="5A6B85"/>
                </a:solidFill>
                <a:latin typeface="微软雅黑"/>
              </a:rPr>
              <a:t>DeepSeek-V4-Pro / KIMI-K3 / GLM-5.3 / GPT-5.6-Sol / Claude-Fable5 / Grok-4.6</a:t>
            </a:r>
          </a:p>
          <a:p>
            <a:r>
              <a:rPr sz="1150" b="0" dirty="0" err="1">
                <a:solidFill>
                  <a:srgbClr val="5A6B85"/>
                </a:solidFill>
                <a:latin typeface="微软雅黑"/>
              </a:rPr>
              <a:t>等针对性深度适配、极致调优，释放模型全部潜能</a:t>
            </a:r>
            <a:endParaRPr sz="1150" b="0" dirty="0">
              <a:solidFill>
                <a:srgbClr val="5A6B85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08494" y="2016970"/>
            <a:ext cx="265251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BFDBFE"/>
                </a:solidFill>
                <a:latin typeface="微软雅黑"/>
              </a:rPr>
              <a:t>🎁 </a:t>
            </a:r>
            <a:r>
              <a:rPr sz="1500" b="1" dirty="0" err="1">
                <a:solidFill>
                  <a:srgbClr val="BFDBFE"/>
                </a:solidFill>
                <a:latin typeface="微软雅黑"/>
              </a:rPr>
              <a:t>新用户福利</a:t>
            </a:r>
            <a:endParaRPr lang="en-US" sz="1500" b="1" dirty="0">
              <a:solidFill>
                <a:srgbClr val="BFDBFE"/>
              </a:solidFill>
              <a:latin typeface="微软雅黑"/>
            </a:endParaRPr>
          </a:p>
          <a:p>
            <a:endParaRPr sz="800" b="1" dirty="0">
              <a:solidFill>
                <a:srgbClr val="BFDBFE"/>
              </a:solidFill>
              <a:latin typeface="微软雅黑"/>
            </a:endParaRPr>
          </a:p>
          <a:p>
            <a:r>
              <a:rPr sz="2500" b="1" dirty="0">
                <a:solidFill>
                  <a:srgbClr val="FFFFFF"/>
                </a:solidFill>
                <a:latin typeface="微软雅黑"/>
              </a:rPr>
              <a:t>¥10 </a:t>
            </a:r>
            <a:r>
              <a:rPr sz="2500" b="1" dirty="0" err="1">
                <a:solidFill>
                  <a:srgbClr val="FFFFFF"/>
                </a:solidFill>
                <a:latin typeface="微软雅黑"/>
              </a:rPr>
              <a:t>体验金</a:t>
            </a:r>
            <a:endParaRPr sz="2500" b="1" dirty="0">
              <a:solidFill>
                <a:srgbClr val="FFFFFF"/>
              </a:solidFill>
              <a:latin typeface="微软雅黑"/>
            </a:endParaRPr>
          </a:p>
          <a:p>
            <a:r>
              <a:rPr sz="1100" b="0" dirty="0" err="1">
                <a:solidFill>
                  <a:srgbClr val="BFDBFE"/>
                </a:solidFill>
                <a:latin typeface="微软雅黑"/>
              </a:rPr>
              <a:t>注册即享</a:t>
            </a:r>
            <a:r>
              <a:rPr sz="1100" b="0" dirty="0">
                <a:solidFill>
                  <a:srgbClr val="BFDBFE"/>
                </a:solidFill>
                <a:latin typeface="微软雅黑"/>
              </a:rPr>
              <a:t> 10 </a:t>
            </a:r>
            <a:r>
              <a:rPr sz="1100" b="0" dirty="0" err="1">
                <a:solidFill>
                  <a:srgbClr val="BFDBFE"/>
                </a:solidFill>
                <a:latin typeface="微软雅黑"/>
              </a:rPr>
              <a:t>元初始余额</a:t>
            </a:r>
            <a:endParaRPr sz="1100" b="0" dirty="0">
              <a:solidFill>
                <a:srgbClr val="BFDBFE"/>
              </a:solidFill>
              <a:latin typeface="微软雅黑"/>
            </a:endParaRPr>
          </a:p>
          <a:p>
            <a:endParaRPr lang="en-US" sz="1100" b="0" dirty="0">
              <a:solidFill>
                <a:srgbClr val="BFDBFE"/>
              </a:solidFill>
              <a:latin typeface="微软雅黑"/>
            </a:endParaRPr>
          </a:p>
          <a:p>
            <a:endParaRPr sz="1100" b="0" dirty="0">
              <a:solidFill>
                <a:srgbClr val="BFDBFE"/>
              </a:solidFill>
              <a:latin typeface="微软雅黑"/>
            </a:endParaRPr>
          </a:p>
          <a:p>
            <a:r>
              <a:rPr sz="1500" b="1" dirty="0">
                <a:solidFill>
                  <a:srgbClr val="FFD9A8"/>
                </a:solidFill>
                <a:latin typeface="微软雅黑"/>
              </a:rPr>
              <a:t>🤝 </a:t>
            </a:r>
            <a:r>
              <a:rPr sz="1500" b="1" dirty="0" err="1">
                <a:solidFill>
                  <a:srgbClr val="FFD9A8"/>
                </a:solidFill>
                <a:latin typeface="微软雅黑"/>
              </a:rPr>
              <a:t>邀请有礼</a:t>
            </a:r>
            <a:endParaRPr lang="en-US" sz="1500" b="1" dirty="0">
              <a:solidFill>
                <a:srgbClr val="FFD9A8"/>
              </a:solidFill>
              <a:latin typeface="微软雅黑"/>
            </a:endParaRPr>
          </a:p>
          <a:p>
            <a:endParaRPr sz="800" b="1" dirty="0">
              <a:solidFill>
                <a:srgbClr val="FFD9A8"/>
              </a:solidFill>
              <a:latin typeface="微软雅黑"/>
            </a:endParaRPr>
          </a:p>
          <a:p>
            <a:r>
              <a:rPr sz="2500" b="1" dirty="0">
                <a:solidFill>
                  <a:srgbClr val="FFB84D"/>
                </a:solidFill>
                <a:latin typeface="微软雅黑"/>
              </a:rPr>
              <a:t>¥30 Token 券</a:t>
            </a:r>
          </a:p>
          <a:p>
            <a:r>
              <a:rPr sz="1100" b="0" dirty="0" err="1">
                <a:solidFill>
                  <a:srgbClr val="BFDBFE"/>
                </a:solidFill>
                <a:latin typeface="微软雅黑"/>
              </a:rPr>
              <a:t>邀请好友注册并完成首次对话即得</a:t>
            </a:r>
            <a:endParaRPr sz="1100" b="0" dirty="0">
              <a:solidFill>
                <a:srgbClr val="BFDBFE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6382512"/>
            <a:ext cx="1219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8A94A6"/>
                </a:solidFill>
                <a:latin typeface="微软雅黑"/>
              </a:rPr>
              <a:t>官网 https://zhiling.plus ｜ 最新版本 v3.9.8 ｜ Copyright © 2026 西安禾成讴沃信息科技有限公司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8C5220-77EC-6775-57B3-062AB6B30378}"/>
              </a:ext>
            </a:extLst>
          </p:cNvPr>
          <p:cNvSpPr txBox="1"/>
          <p:nvPr/>
        </p:nvSpPr>
        <p:spPr>
          <a:xfrm>
            <a:off x="8975678" y="6020667"/>
            <a:ext cx="17123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扫码领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元通用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95</Words>
  <Application>Microsoft Office PowerPoint</Application>
  <PresentationFormat>宽屏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微软雅黑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 Xiao</cp:lastModifiedBy>
  <cp:revision>15</cp:revision>
  <dcterms:created xsi:type="dcterms:W3CDTF">2013-01-27T09:14:16Z</dcterms:created>
  <dcterms:modified xsi:type="dcterms:W3CDTF">2026-08-28T14:40:37Z</dcterms:modified>
  <cp:category/>
</cp:coreProperties>
</file>